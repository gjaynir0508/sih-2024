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8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A45E1DD-8E38-4745-84EA-FE850313CB94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7413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C864A3-F63A-41F1-9D82-CE07DAA8309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DE4006-49AB-4C10-89A2-F2C8CB525E08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3634CCF-B1A4-4C37-871F-1584FBF30C9F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D4D668-883F-417F-A6A5-51F9C6BF04CD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0396C0-D0F0-4DCF-AE0B-03F16103D4E6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100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41D14BB-48E9-4BA9-8D5C-E67D258883D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12178D8-038C-4DF1-B4A8-E3306861E88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2130B5A-0D46-47FE-8694-3DB59F1016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100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0747063-70E6-460A-A9C9-595D6EF783B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BE21DBF-4305-42CE-8256-44E2D88E6A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356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240" y="1095480"/>
            <a:ext cx="535356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B859A57-B768-4279-A4AF-A1BCAF98612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68817F3-A5E7-4470-9739-1143B968405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61455975-5309-42F4-AD5E-F6129F0B947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80564D79-B3F3-436D-B535-B8971AF6A2C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741D16AF-3CA1-4C8B-BC81-05FCAF68667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68EF8D4A-CAA0-472A-88F7-9E569E8DDE2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C516FA-213C-44A8-AA39-111C0FBFF073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4A1FD56-C468-41EB-9CCF-71875D2FE439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0199652-DA3D-4999-B3BA-DE945D4FB177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100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21E546-9848-4F6E-8D2C-75633E7E3985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3DDD67-745A-41DE-8AEC-948DF715F54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56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600" y="1095480"/>
            <a:ext cx="5353560" cy="50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15691C3-0AE5-4A00-9870-4BA3F1C37FEC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20A9840-D59C-4E3C-8B84-EED60528517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889BE23-5097-4068-A16F-A407D0F2DD7B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2353D21-1557-4AB4-8A37-F00FA6230CA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0B0055-CA47-4AB6-BB49-CC4F857BCB0B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B525ED-BC02-405A-AD3C-74A5AE2EF4A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240" y="128520"/>
            <a:ext cx="9141480" cy="6699960"/>
          </a:xfrm>
          <a:prstGeom prst="rect">
            <a:avLst/>
          </a:prstGeom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7040" y="986760"/>
            <a:ext cx="4636080" cy="5035680"/>
          </a:xfrm>
          <a:custGeom>
            <a:avLst/>
            <a:gdLst>
              <a:gd name="textAreaLeft" fmla="*/ 0 w 4636080"/>
              <a:gd name="textAreaRight" fmla="*/ 4638600 w 4636080"/>
              <a:gd name="textAreaTop" fmla="*/ 0 h 5035680"/>
              <a:gd name="textAreaBottom" fmla="*/ 5037840 h 503568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pic>
        <p:nvPicPr>
          <p:cNvPr id="57" name="Picture 4"/>
          <p:cNvPicPr/>
          <p:nvPr/>
        </p:nvPicPr>
        <p:blipFill>
          <a:blip r:embed="rId2"/>
          <a:srcRect r="59916"/>
          <a:stretch/>
        </p:blipFill>
        <p:spPr>
          <a:xfrm>
            <a:off x="6855120" y="1831680"/>
            <a:ext cx="3201120" cy="334584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4"/>
          <p:cNvSpPr/>
          <p:nvPr/>
        </p:nvSpPr>
        <p:spPr>
          <a:xfrm>
            <a:off x="1245960" y="788760"/>
            <a:ext cx="8532000" cy="1710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TITLE PAGE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5"/>
          <p:cNvSpPr/>
          <p:nvPr/>
        </p:nvSpPr>
        <p:spPr>
          <a:xfrm>
            <a:off x="331560" y="-360000"/>
            <a:ext cx="10360800" cy="2026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chemeClr val="dk2"/>
                </a:solidFill>
                <a:latin typeface="Garamond"/>
                <a:ea typeface="ＭＳ Ｐゴシック"/>
              </a:rPr>
              <a:t>SMART INDIA HACKATHON 2024</a:t>
            </a:r>
            <a:endParaRPr lang="en-IN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"/>
          <p:cNvSpPr/>
          <p:nvPr/>
        </p:nvSpPr>
        <p:spPr>
          <a:xfrm>
            <a:off x="331560" y="1386360"/>
            <a:ext cx="560700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ID –  SIH1638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Title- AI-Driven Crop Disease Prediction and Management System 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Theme- Agriculture, </a:t>
            </a:r>
            <a:r>
              <a:rPr lang="en-US" sz="1500" b="1" strike="noStrike" spc="-1" dirty="0" err="1">
                <a:solidFill>
                  <a:schemeClr val="dk1"/>
                </a:solidFill>
                <a:latin typeface="Arial"/>
                <a:ea typeface="ＭＳ Ｐゴシック"/>
              </a:rPr>
              <a:t>FoodTech</a:t>
            </a: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 &amp; Rural Development 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PS Category- Software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ID- N/A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Name – Lettuce Hack</a:t>
            </a:r>
            <a:endParaRPr lang="en-IN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Google Shape;93;p 1"/>
          <p:cNvPicPr/>
          <p:nvPr/>
        </p:nvPicPr>
        <p:blipFill>
          <a:blip r:embed="rId3"/>
          <a:stretch/>
        </p:blipFill>
        <p:spPr>
          <a:xfrm>
            <a:off x="9804240" y="234360"/>
            <a:ext cx="2243880" cy="1120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0320" cy="5014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8280" y="-241920"/>
            <a:ext cx="10971000" cy="1501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2600"/>
            </a:br>
            <a:r>
              <a:rPr lang="en-IN" sz="26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 Modular AI-Driven Crop Disease Management System </a:t>
            </a:r>
            <a:endParaRPr lang="en-IN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1800" y="1002240"/>
            <a:ext cx="12190320" cy="53960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F497D"/>
              </a:buClr>
              <a:buFont typeface="Wingdings" charset="2"/>
              <a:buChar char=""/>
              <a:tabLst>
                <a:tab pos="0" algn="l"/>
              </a:tabLst>
            </a:pPr>
            <a:r>
              <a:rPr lang="en-US" sz="1300" b="1" strike="noStrike" spc="-1" dirty="0">
                <a:solidFill>
                  <a:schemeClr val="dk1"/>
                </a:solidFill>
                <a:latin typeface="Arial"/>
                <a:ea typeface="Libre Franklin"/>
              </a:rPr>
              <a:t>Problem: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Libre Franklin"/>
              </a:rPr>
              <a:t>Difficulty in identifying crop diseases early, leading to reduced yields.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Libre Franklin"/>
              </a:rPr>
              <a:t>Challenges in using complex technology due to low digital literacy.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Libre Franklin"/>
              </a:rPr>
              <a:t>Lack of tools that work with low-end devices or poor internet connectivity.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F497D"/>
              </a:buClr>
              <a:buFont typeface="Wingdings" charset="2"/>
              <a:buChar char=""/>
              <a:tabLst>
                <a:tab pos="0" algn="l"/>
              </a:tabLst>
            </a:pPr>
            <a:r>
              <a:rPr lang="en-US" sz="13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Innovation and Uniqueness: 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Dual Input Capability: Supports both text and image-based diagnosis for versatile use.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RAG-based Models: Fine-tuned for agricultural contexts, enhancing precision and relevance.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Ensembled Image Classifiers: Includes a zero-class for unidentified leaves, improving reliability.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Multi-Platform Access: Available via Android and web, catering to varying technical abilities.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Local Deployment: Ensures quick, cost-effective performance even with limited resources.</a:t>
            </a:r>
            <a:endParaRPr lang="en-IN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F497D"/>
              </a:buClr>
              <a:buFont typeface="Wingdings" charset="2"/>
              <a:buChar char=""/>
              <a:tabLst>
                <a:tab pos="0" algn="l"/>
              </a:tabLst>
            </a:pPr>
            <a:r>
              <a:rPr lang="en-US" sz="13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How It Addresses the Problem: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F497D"/>
              </a:buClr>
              <a:buFont typeface="Wingdings" charset="2"/>
              <a:buChar char=""/>
              <a:tabLst>
                <a:tab pos="0" algn="l"/>
              </a:tabLst>
            </a:pPr>
            <a:r>
              <a:rPr lang="en-US" sz="1300" b="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Combines text and image inputs for flexible, farmer-friendly disease diagnosis.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C707FEF-BB99-434B-B670-7DDFC6A00C28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22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lt1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lt1"/>
                </a:solidFill>
                <a:latin typeface="TradeGothic"/>
              </a:rPr>
              <a:t>@SIH Idea submission- Template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Oval 9"/>
          <p:cNvSpPr/>
          <p:nvPr/>
        </p:nvSpPr>
        <p:spPr>
          <a:xfrm>
            <a:off x="329760" y="252360"/>
            <a:ext cx="1249920" cy="8056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Lettuce Hack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93;p2"/>
          <p:cNvPicPr/>
          <p:nvPr/>
        </p:nvPicPr>
        <p:blipFill>
          <a:blip r:embed="rId3"/>
          <a:stretch/>
        </p:blipFill>
        <p:spPr>
          <a:xfrm>
            <a:off x="9803880" y="81360"/>
            <a:ext cx="2244600" cy="114732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E9C3C9-F407-DDAC-2F1E-6DDF6E62588A}"/>
              </a:ext>
            </a:extLst>
          </p:cNvPr>
          <p:cNvSpPr txBox="1"/>
          <p:nvPr/>
        </p:nvSpPr>
        <p:spPr>
          <a:xfrm>
            <a:off x="6877048" y="1142834"/>
            <a:ext cx="194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Revenue Model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3CA209-9067-57FD-3C5B-2446EA404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368765"/>
              </p:ext>
            </p:extLst>
          </p:nvPr>
        </p:nvGraphicFramePr>
        <p:xfrm>
          <a:off x="7119172" y="1579776"/>
          <a:ext cx="4957592" cy="280570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239398">
                  <a:extLst>
                    <a:ext uri="{9D8B030D-6E8A-4147-A177-3AD203B41FA5}">
                      <a16:colId xmlns:a16="http://schemas.microsoft.com/office/drawing/2014/main" val="191530001"/>
                    </a:ext>
                  </a:extLst>
                </a:gridCol>
                <a:gridCol w="1633842">
                  <a:extLst>
                    <a:ext uri="{9D8B030D-6E8A-4147-A177-3AD203B41FA5}">
                      <a16:colId xmlns:a16="http://schemas.microsoft.com/office/drawing/2014/main" val="4073442621"/>
                    </a:ext>
                  </a:extLst>
                </a:gridCol>
                <a:gridCol w="844954">
                  <a:extLst>
                    <a:ext uri="{9D8B030D-6E8A-4147-A177-3AD203B41FA5}">
                      <a16:colId xmlns:a16="http://schemas.microsoft.com/office/drawing/2014/main" val="3522645575"/>
                    </a:ext>
                  </a:extLst>
                </a:gridCol>
                <a:gridCol w="1239398">
                  <a:extLst>
                    <a:ext uri="{9D8B030D-6E8A-4147-A177-3AD203B41FA5}">
                      <a16:colId xmlns:a16="http://schemas.microsoft.com/office/drawing/2014/main" val="97334310"/>
                    </a:ext>
                  </a:extLst>
                </a:gridCol>
              </a:tblGrid>
              <a:tr h="427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Model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Cons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Verdict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8438071"/>
                  </a:ext>
                </a:extLst>
              </a:tr>
              <a:tr h="427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Data Monetization</a:t>
                      </a:r>
                      <a:endParaRPr lang="en-IN" sz="1100" dirty="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Scalable, valuable insights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Needs large user base, privacy risks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Long-term growth, high potential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37117262"/>
                  </a:ext>
                </a:extLst>
              </a:tr>
              <a:tr h="427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Sponsored Content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Non-intrusive, steady revenue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Requires partnerships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Reliable with minimal user impact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4475983"/>
                  </a:ext>
                </a:extLst>
              </a:tr>
              <a:tr h="427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Marketplace for Supplies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Direct sales, high demand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Complex logistics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High growth potential, scalable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2736151"/>
                  </a:ext>
                </a:extLst>
              </a:tr>
              <a:tr h="5327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Affiliate Marketing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Easy to implement, no user cost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Low revenue at first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Good as a supplementary stream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5975756"/>
                  </a:ext>
                </a:extLst>
              </a:tr>
              <a:tr h="427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Agri-Lending Partnerships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Lucrative, valuable to farmers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Complex to set up</a:t>
                      </a:r>
                      <a:endParaRPr lang="en-IN" sz="110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High value but takes time to build</a:t>
                      </a:r>
                      <a:endParaRPr lang="en-IN" sz="1100" dirty="0">
                        <a:effectLst/>
                        <a:latin typeface="Roboto" panose="02000000000000000000" pitchFamily="2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62599245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68C4B2-CB1C-9A78-19C9-B1286C835A7F}"/>
              </a:ext>
            </a:extLst>
          </p:cNvPr>
          <p:cNvCxnSpPr>
            <a:cxnSpLocks/>
          </p:cNvCxnSpPr>
          <p:nvPr/>
        </p:nvCxnSpPr>
        <p:spPr>
          <a:xfrm>
            <a:off x="6947251" y="1142834"/>
            <a:ext cx="0" cy="521188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4FD1CB0-9572-0749-2F96-0F88FD42C70E}"/>
              </a:ext>
            </a:extLst>
          </p:cNvPr>
          <p:cNvSpPr txBox="1"/>
          <p:nvPr/>
        </p:nvSpPr>
        <p:spPr>
          <a:xfrm>
            <a:off x="6947251" y="4453092"/>
            <a:ext cx="387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Top Choices for Revenue Generation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06FC3-B507-3ECF-0C48-4607493B6AB9}"/>
              </a:ext>
            </a:extLst>
          </p:cNvPr>
          <p:cNvSpPr txBox="1"/>
          <p:nvPr/>
        </p:nvSpPr>
        <p:spPr>
          <a:xfrm>
            <a:off x="7119172" y="4925054"/>
            <a:ext cx="3269165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Mangal" panose="02040503050203030202" pitchFamily="18" charset="0"/>
              </a:rPr>
              <a:t>Data Monetization</a:t>
            </a:r>
            <a:endParaRPr lang="en-IN" sz="1200" dirty="0">
              <a:effectLst/>
              <a:latin typeface="Roboto" panose="0200000000000000000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Mangal" panose="02040503050203030202" pitchFamily="18" charset="0"/>
              </a:rPr>
              <a:t>Sponsored Content</a:t>
            </a:r>
            <a:endParaRPr lang="en-IN" sz="1200" dirty="0">
              <a:effectLst/>
              <a:latin typeface="Roboto" panose="0200000000000000000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Mangal" panose="02040503050203030202" pitchFamily="18" charset="0"/>
              </a:rPr>
              <a:t>Marketplace for Agriculture Supplies</a:t>
            </a:r>
            <a:endParaRPr lang="en-IN" sz="1200" dirty="0">
              <a:effectLst/>
              <a:latin typeface="Roboto" panose="0200000000000000000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5" name="Graphic 14" descr="Database">
            <a:extLst>
              <a:ext uri="{FF2B5EF4-FFF2-40B4-BE49-F238E27FC236}">
                <a16:creationId xmlns:a16="http://schemas.microsoft.com/office/drawing/2014/main" id="{03984DD0-C19A-EFA3-B9F9-95A22C920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2008" y="4792786"/>
            <a:ext cx="360000" cy="360000"/>
          </a:xfrm>
          <a:prstGeom prst="rect">
            <a:avLst/>
          </a:prstGeom>
        </p:spPr>
      </p:pic>
      <p:pic>
        <p:nvPicPr>
          <p:cNvPr id="17" name="Graphic 16" descr="Statistics">
            <a:extLst>
              <a:ext uri="{FF2B5EF4-FFF2-40B4-BE49-F238E27FC236}">
                <a16:creationId xmlns:a16="http://schemas.microsoft.com/office/drawing/2014/main" id="{ECCAEEC9-561F-939C-D88E-25CC138586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9798" y="2292840"/>
            <a:ext cx="360000" cy="360000"/>
          </a:xfrm>
          <a:prstGeom prst="rect">
            <a:avLst/>
          </a:prstGeom>
        </p:spPr>
      </p:pic>
      <p:pic>
        <p:nvPicPr>
          <p:cNvPr id="19" name="Graphic 18" descr="Pie chart">
            <a:extLst>
              <a:ext uri="{FF2B5EF4-FFF2-40B4-BE49-F238E27FC236}">
                <a16:creationId xmlns:a16="http://schemas.microsoft.com/office/drawing/2014/main" id="{61507F6D-B516-FA7D-6DB0-F2C5A2C14B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09798" y="4174375"/>
            <a:ext cx="360000" cy="360000"/>
          </a:xfrm>
          <a:prstGeom prst="rect">
            <a:avLst/>
          </a:prstGeom>
        </p:spPr>
      </p:pic>
      <p:pic>
        <p:nvPicPr>
          <p:cNvPr id="21" name="Graphic 20" descr="Rupee">
            <a:extLst>
              <a:ext uri="{FF2B5EF4-FFF2-40B4-BE49-F238E27FC236}">
                <a16:creationId xmlns:a16="http://schemas.microsoft.com/office/drawing/2014/main" id="{80B680B2-5247-CD47-059F-AFF3D92EA6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46183" y="4946362"/>
            <a:ext cx="360000" cy="360000"/>
          </a:xfrm>
          <a:prstGeom prst="rect">
            <a:avLst/>
          </a:prstGeom>
        </p:spPr>
      </p:pic>
      <p:pic>
        <p:nvPicPr>
          <p:cNvPr id="23" name="Graphic 22" descr="Bank">
            <a:extLst>
              <a:ext uri="{FF2B5EF4-FFF2-40B4-BE49-F238E27FC236}">
                <a16:creationId xmlns:a16="http://schemas.microsoft.com/office/drawing/2014/main" id="{F6ECCF55-5270-00D6-C5F7-226FCA077C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59020" y="5458180"/>
            <a:ext cx="360000" cy="360000"/>
          </a:xfrm>
          <a:prstGeom prst="rect">
            <a:avLst/>
          </a:prstGeom>
        </p:spPr>
      </p:pic>
      <p:pic>
        <p:nvPicPr>
          <p:cNvPr id="25" name="Graphic 24" descr="Money">
            <a:extLst>
              <a:ext uri="{FF2B5EF4-FFF2-40B4-BE49-F238E27FC236}">
                <a16:creationId xmlns:a16="http://schemas.microsoft.com/office/drawing/2014/main" id="{D061DD38-1681-3B24-036D-E6E4C6F9C1A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80223" y="5152786"/>
            <a:ext cx="360000" cy="360000"/>
          </a:xfrm>
          <a:prstGeom prst="rect">
            <a:avLst/>
          </a:prstGeom>
        </p:spPr>
      </p:pic>
      <p:pic>
        <p:nvPicPr>
          <p:cNvPr id="27" name="Graphic 26" descr="Bug spray">
            <a:extLst>
              <a:ext uri="{FF2B5EF4-FFF2-40B4-BE49-F238E27FC236}">
                <a16:creationId xmlns:a16="http://schemas.microsoft.com/office/drawing/2014/main" id="{7F63F21C-ED93-A69A-DCA1-F9740DE461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09798" y="352026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0320" cy="5014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TECHNICAL APPROACH</a:t>
            </a:r>
            <a:endParaRPr lang="en-IN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335160" y="1440000"/>
            <a:ext cx="7043400" cy="14976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ＭＳ Ｐゴシック"/>
              </a:rPr>
              <a:t>Technologies to be used: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Libre Franklin"/>
                <a:ea typeface="Libre Franklin"/>
              </a:rPr>
              <a:t>Python - Ollama, LangChain, FAISS, PyTorch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Libre Franklin"/>
                <a:ea typeface="Libre Franklin"/>
              </a:rPr>
              <a:t>Models - llama3.1:8b (llm), miniLM-L6-V2(for generating indeces), </a:t>
            </a:r>
            <a:r>
              <a:rPr lang="en-US" sz="1400" b="0" strike="noStrike" spc="-1">
                <a:solidFill>
                  <a:schemeClr val="dk1"/>
                </a:solidFill>
                <a:latin typeface="Arial"/>
                <a:ea typeface="ＭＳ Ｐゴシック"/>
              </a:rPr>
              <a:t>ensembled</a:t>
            </a:r>
            <a:r>
              <a:rPr lang="en-US" sz="1300" b="0" strike="noStrike" spc="-1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lang="en-US" sz="1400" b="0" strike="noStrike" spc="-1">
                <a:solidFill>
                  <a:schemeClr val="dk1"/>
                </a:solidFill>
                <a:latin typeface="Libre Franklin"/>
                <a:ea typeface="Libre Franklin"/>
              </a:rPr>
              <a:t>model [ResNet, VGG, Efficientnet]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400" b="0" strike="noStrike" spc="-1">
                <a:solidFill>
                  <a:schemeClr val="dk1"/>
                </a:solidFill>
                <a:latin typeface="Arial"/>
                <a:ea typeface="Arial"/>
              </a:rPr>
              <a:t>Typescript, React Native, Firebase, Expo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5553A3-920E-41A6-8FC4-DBED64F52CD5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40"/>
          </p:nvPr>
        </p:nvSpPr>
        <p:spPr>
          <a:xfrm>
            <a:off x="4648320" y="6356520"/>
            <a:ext cx="32022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lt1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lt1"/>
                </a:solidFill>
                <a:latin typeface="TradeGothic"/>
              </a:rPr>
              <a:t>@SIH Idea submission- Template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" name="Google Shape;93;p2"/>
          <p:cNvPicPr/>
          <p:nvPr/>
        </p:nvPicPr>
        <p:blipFill>
          <a:blip r:embed="rId3"/>
          <a:stretch/>
        </p:blipFill>
        <p:spPr>
          <a:xfrm>
            <a:off x="9803880" y="81360"/>
            <a:ext cx="2244600" cy="1147320"/>
          </a:xfrm>
          <a:prstGeom prst="rect">
            <a:avLst/>
          </a:prstGeom>
          <a:ln w="0">
            <a:noFill/>
          </a:ln>
        </p:spPr>
      </p:pic>
      <p:sp>
        <p:nvSpPr>
          <p:cNvPr id="75" name="Oval 10"/>
          <p:cNvSpPr/>
          <p:nvPr/>
        </p:nvSpPr>
        <p:spPr>
          <a:xfrm>
            <a:off x="329760" y="252360"/>
            <a:ext cx="1249920" cy="8056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Lettuce Hack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Placeholder 2"/>
          <p:cNvPicPr/>
          <p:nvPr/>
        </p:nvPicPr>
        <p:blipFill>
          <a:blip r:embed="rId4"/>
          <a:srcRect l="2912" r="2912"/>
          <a:stretch/>
        </p:blipFill>
        <p:spPr>
          <a:xfrm>
            <a:off x="7380000" y="1332720"/>
            <a:ext cx="4687560" cy="388584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93"/>
          <p:cNvPicPr/>
          <p:nvPr/>
        </p:nvPicPr>
        <p:blipFill>
          <a:blip r:embed="rId5"/>
          <a:stretch/>
        </p:blipFill>
        <p:spPr>
          <a:xfrm>
            <a:off x="180000" y="3600000"/>
            <a:ext cx="7558560" cy="251856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8" descr="React-Native-TS-Expo · Quicksi"/>
          <p:cNvPicPr/>
          <p:nvPr/>
        </p:nvPicPr>
        <p:blipFill>
          <a:blip r:embed="rId6"/>
          <a:stretch/>
        </p:blipFill>
        <p:spPr>
          <a:xfrm>
            <a:off x="6733080" y="5322600"/>
            <a:ext cx="3640320" cy="131364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6" descr="react-native-logo – ReactJSs / React-Native / Ionic"/>
          <p:cNvPicPr/>
          <p:nvPr/>
        </p:nvPicPr>
        <p:blipFill>
          <a:blip r:embed="rId7"/>
          <a:stretch/>
        </p:blipFill>
        <p:spPr>
          <a:xfrm>
            <a:off x="9438120" y="5517360"/>
            <a:ext cx="687240" cy="79668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10" descr="Setting up Firebase Power BI Integration: 3 Easy Methods - Learn | Hevo"/>
          <p:cNvPicPr/>
          <p:nvPr/>
        </p:nvPicPr>
        <p:blipFill>
          <a:blip r:embed="rId8"/>
          <a:stretch/>
        </p:blipFill>
        <p:spPr>
          <a:xfrm>
            <a:off x="10295640" y="5369400"/>
            <a:ext cx="2091240" cy="107100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12" descr="Python Logo PNG Transparent – Brands Logos"/>
          <p:cNvPicPr/>
          <p:nvPr/>
        </p:nvPicPr>
        <p:blipFill>
          <a:blip r:embed="rId9"/>
          <a:stretch/>
        </p:blipFill>
        <p:spPr>
          <a:xfrm>
            <a:off x="6992280" y="5717160"/>
            <a:ext cx="526320" cy="52452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14" descr="TypeScript – Wikipedia"/>
          <p:cNvPicPr/>
          <p:nvPr/>
        </p:nvPicPr>
        <p:blipFill>
          <a:blip r:embed="rId10"/>
          <a:stretch/>
        </p:blipFill>
        <p:spPr>
          <a:xfrm>
            <a:off x="6271200" y="5721480"/>
            <a:ext cx="524520" cy="524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0320" cy="5014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lang="en-IN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00843F-EF68-4BBE-A0F7-08BF9F58D578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42"/>
          </p:nvPr>
        </p:nvSpPr>
        <p:spPr>
          <a:xfrm>
            <a:off x="4648320" y="6356520"/>
            <a:ext cx="32022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7" name="Google Shape;93;p2"/>
          <p:cNvPicPr/>
          <p:nvPr/>
        </p:nvPicPr>
        <p:blipFill>
          <a:blip r:embed="rId3"/>
          <a:stretch/>
        </p:blipFill>
        <p:spPr>
          <a:xfrm>
            <a:off x="9797760" y="-37440"/>
            <a:ext cx="2244600" cy="1147320"/>
          </a:xfrm>
          <a:prstGeom prst="rect">
            <a:avLst/>
          </a:prstGeom>
          <a:ln w="0">
            <a:noFill/>
          </a:ln>
        </p:spPr>
      </p:pic>
      <p:sp>
        <p:nvSpPr>
          <p:cNvPr id="88" name="Oval 11"/>
          <p:cNvSpPr/>
          <p:nvPr/>
        </p:nvSpPr>
        <p:spPr>
          <a:xfrm>
            <a:off x="226080" y="114120"/>
            <a:ext cx="1249920" cy="8056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Lettuce Hack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Picture 3" descr="A diagram of a process&#10;&#10;Description automatically generated"/>
          <p:cNvPicPr/>
          <p:nvPr/>
        </p:nvPicPr>
        <p:blipFill>
          <a:blip r:embed="rId4"/>
          <a:stretch/>
        </p:blipFill>
        <p:spPr>
          <a:xfrm>
            <a:off x="8345520" y="1260000"/>
            <a:ext cx="3533400" cy="2758320"/>
          </a:xfrm>
          <a:prstGeom prst="rect">
            <a:avLst/>
          </a:prstGeom>
          <a:ln w="0">
            <a:noFill/>
          </a:ln>
        </p:spPr>
      </p:pic>
      <p:pic>
        <p:nvPicPr>
          <p:cNvPr id="90" name="Picture 6" descr="A diagram of a problem&#10;&#10;Description automatically generated"/>
          <p:cNvPicPr/>
          <p:nvPr/>
        </p:nvPicPr>
        <p:blipFill>
          <a:blip r:embed="rId5"/>
          <a:stretch/>
        </p:blipFill>
        <p:spPr>
          <a:xfrm>
            <a:off x="4550400" y="1094760"/>
            <a:ext cx="3908520" cy="282744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8" descr="A diagram of a medical procedure&#10;&#10;Description automatically generated"/>
          <p:cNvPicPr/>
          <p:nvPr/>
        </p:nvPicPr>
        <p:blipFill>
          <a:blip r:embed="rId6"/>
          <a:stretch/>
        </p:blipFill>
        <p:spPr>
          <a:xfrm>
            <a:off x="1423440" y="900000"/>
            <a:ext cx="2715480" cy="3156840"/>
          </a:xfrm>
          <a:prstGeom prst="rect">
            <a:avLst/>
          </a:prstGeom>
          <a:ln w="0">
            <a:noFill/>
          </a:ln>
        </p:spPr>
      </p:pic>
      <p:sp>
        <p:nvSpPr>
          <p:cNvPr id="92" name="TextBox 9"/>
          <p:cNvSpPr/>
          <p:nvPr/>
        </p:nvSpPr>
        <p:spPr>
          <a:xfrm>
            <a:off x="1918800" y="3966120"/>
            <a:ext cx="1670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1400" b="0" strike="noStrike" spc="-1">
                <a:solidFill>
                  <a:schemeClr val="dk1"/>
                </a:solidFill>
                <a:latin typeface="Calibri"/>
              </a:rPr>
              <a:t>Stage - 1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4797000" y="3960000"/>
            <a:ext cx="3121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400" b="0" strike="noStrike" spc="-1">
                <a:solidFill>
                  <a:schemeClr val="dk1"/>
                </a:solidFill>
                <a:latin typeface="Calibri"/>
              </a:rPr>
              <a:t>Stage -2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9000000" y="3956040"/>
            <a:ext cx="20829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400" b="0" strike="noStrike" spc="-1">
                <a:solidFill>
                  <a:schemeClr val="dk1"/>
                </a:solidFill>
                <a:latin typeface="Calibri"/>
              </a:rPr>
              <a:t>Stage -3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965520" y="4320000"/>
            <a:ext cx="10567800" cy="192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chemeClr val="dk1"/>
                </a:solidFill>
                <a:latin typeface="Calibri"/>
              </a:rPr>
              <a:t>The solution employs ensembled models (ResNet, VGG, EfficientNet) for robust image classification and RAG-based models for efficient query handling. Its modular design allows for staged deployment, This phased approach improves feasibility by enabling gradual resource allocation, early validation, and scalability. </a:t>
            </a:r>
            <a:endParaRPr lang="en-IN" sz="17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chemeClr val="dk1"/>
                </a:solidFill>
                <a:latin typeface="Calibri"/>
              </a:rPr>
              <a:t>Its highly viable die to its modular design, which allows for staged deployment, reducing the need for significant upfront investment. This step-by-step approach ensures that each phase can be tested, refined, and validated, minimizing risks while ensuring steady progress. </a:t>
            </a:r>
            <a:endParaRPr lang="en-IN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"/>
          <p:cNvSpPr/>
          <p:nvPr/>
        </p:nvSpPr>
        <p:spPr>
          <a:xfrm>
            <a:off x="0" y="6354720"/>
            <a:ext cx="12190320" cy="5014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69080" y="-182520"/>
            <a:ext cx="10971000" cy="1141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IMPACT AND BENEFITS</a:t>
            </a:r>
            <a:endParaRPr lang="en-IN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142200" y="846360"/>
            <a:ext cx="11868480" cy="54442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46B349-4CB1-484C-AD3B-6AE28F84DF18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22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Google Shape;93;p2"/>
          <p:cNvPicPr/>
          <p:nvPr/>
        </p:nvPicPr>
        <p:blipFill>
          <a:blip r:embed="rId3"/>
          <a:stretch/>
        </p:blipFill>
        <p:spPr>
          <a:xfrm>
            <a:off x="9803880" y="-45720"/>
            <a:ext cx="2244600" cy="1147320"/>
          </a:xfrm>
          <a:prstGeom prst="rect">
            <a:avLst/>
          </a:prstGeom>
          <a:ln w="0">
            <a:noFill/>
          </a:ln>
        </p:spPr>
      </p:pic>
      <p:sp>
        <p:nvSpPr>
          <p:cNvPr id="102" name="Oval 11"/>
          <p:cNvSpPr/>
          <p:nvPr/>
        </p:nvSpPr>
        <p:spPr>
          <a:xfrm>
            <a:off x="319320" y="81360"/>
            <a:ext cx="1249920" cy="8056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Lettuce Hack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1"/>
          <p:cNvPicPr/>
          <p:nvPr/>
        </p:nvPicPr>
        <p:blipFill>
          <a:blip r:embed="rId4"/>
          <a:stretch/>
        </p:blipFill>
        <p:spPr>
          <a:xfrm>
            <a:off x="645840" y="985680"/>
            <a:ext cx="11233440" cy="5342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9"/>
          <p:cNvSpPr/>
          <p:nvPr/>
        </p:nvSpPr>
        <p:spPr>
          <a:xfrm>
            <a:off x="0" y="6354720"/>
            <a:ext cx="12190320" cy="5014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000" cy="1141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IN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360000" y="1400040"/>
            <a:ext cx="11300040" cy="47192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Handling Zero-Class and Overconfidence: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Zero-Class: Techniques for managing zero-class (unknown samples) and ensuring accurate classification.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Overconfidence: Methods like temperature scaling and dropout reduce model overconfidence.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Source: Out-of-Distribution Detection and Classifier Calibration – IEEE Transactions on Pattern Analysis and Machine Intelligence.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Ensembling Models: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Ensembling: Combining models (ResNet, VGG, EfficientNet) improves accuracy and robustness by leveraging diverse strengths.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Source: Ensemble Deep Learning: Opportunities and Challenges – IEEE Access.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RAG Models: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RAG Efficiency: RAG models integrate retrieval and generation for efficient and accurate query handling with minimal fine-tuning.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Source: RAG: Retrieval-Augmented Generation – Facebook AI Research.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E91D25-74BE-4EF4-AFDD-C4FE6F401A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ftr" idx="46"/>
          </p:nvPr>
        </p:nvSpPr>
        <p:spPr>
          <a:xfrm>
            <a:off x="4648320" y="6356520"/>
            <a:ext cx="32022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9" name="Google Shape;93;p2"/>
          <p:cNvPicPr/>
          <p:nvPr/>
        </p:nvPicPr>
        <p:blipFill>
          <a:blip r:embed="rId3"/>
          <a:stretch/>
        </p:blipFill>
        <p:spPr>
          <a:xfrm>
            <a:off x="9803880" y="81360"/>
            <a:ext cx="2244600" cy="1147320"/>
          </a:xfrm>
          <a:prstGeom prst="rect">
            <a:avLst/>
          </a:prstGeom>
          <a:ln w="0">
            <a:noFill/>
          </a:ln>
        </p:spPr>
      </p:pic>
      <p:sp>
        <p:nvSpPr>
          <p:cNvPr id="110" name="Oval 8"/>
          <p:cNvSpPr/>
          <p:nvPr/>
        </p:nvSpPr>
        <p:spPr>
          <a:xfrm>
            <a:off x="329760" y="252360"/>
            <a:ext cx="1249920" cy="8056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Lettuce Hack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7614</TotalTime>
  <Words>600</Words>
  <Application>Microsoft Office PowerPoint</Application>
  <PresentationFormat>Widescreen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26" baseType="lpstr">
      <vt:lpstr>Arial</vt:lpstr>
      <vt:lpstr>Calibri</vt:lpstr>
      <vt:lpstr>Garamond</vt:lpstr>
      <vt:lpstr>Libre Franklin</vt:lpstr>
      <vt:lpstr>Roboto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  Modular AI-Driven Crop Disease Management System 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Jayanth Gudimella</cp:lastModifiedBy>
  <cp:revision>175</cp:revision>
  <dcterms:created xsi:type="dcterms:W3CDTF">2013-12-12T18:46:50Z</dcterms:created>
  <dcterms:modified xsi:type="dcterms:W3CDTF">2025-02-14T14:27:22Z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